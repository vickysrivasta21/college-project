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419" r:id="rId5"/>
    <p:sldId id="420" r:id="rId6"/>
    <p:sldId id="422" r:id="rId7"/>
    <p:sldId id="398" r:id="rId8"/>
    <p:sldId id="424" r:id="rId9"/>
    <p:sldId id="430" r:id="rId10"/>
    <p:sldId id="425" r:id="rId11"/>
    <p:sldId id="42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 autoAdjust="0"/>
  </p:normalViewPr>
  <p:slideViewPr>
    <p:cSldViewPr snapToGrid="0">
      <p:cViewPr>
        <p:scale>
          <a:sx n="69" d="100"/>
          <a:sy n="69" d="100"/>
        </p:scale>
        <p:origin x="37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7D9B7B-4A73-184C-96C6-4BE2470E87BE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A4D5F-9E30-9543-BEC7-E53378DF7C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125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5CE4CF0-E733-16C2-6019-997F7A0F26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32138" y="0"/>
            <a:ext cx="90805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0379" y="2483753"/>
            <a:ext cx="7948214" cy="2956927"/>
          </a:xfrm>
          <a:solidFill>
            <a:schemeClr val="tx1">
              <a:alpha val="20000"/>
            </a:schemeClr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lIns="365760" bIns="365760"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77340849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9FA4E6-8E09-EFEA-8377-28574BB9F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36" y="-4413"/>
            <a:ext cx="12190036" cy="688781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532625B-D59F-1A7C-F916-E52A50D9C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97680" y="4204791"/>
            <a:ext cx="942529" cy="11734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20586F-8A75-2D23-5BB1-2B52AA098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3332" y="584199"/>
            <a:ext cx="3241035" cy="56308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352" y="-4413"/>
            <a:ext cx="5283773" cy="2864858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8F37984-12E5-8085-CE13-881D2519106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8352" y="2862643"/>
            <a:ext cx="5272088" cy="3352381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spcBef>
                <a:spcPts val="1000"/>
              </a:spcBef>
              <a:spcAft>
                <a:spcPts val="1000"/>
              </a:spcAft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spcBef>
                <a:spcPts val="1000"/>
              </a:spcBef>
              <a:spcAft>
                <a:spcPts val="1000"/>
              </a:spcAft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spcBef>
                <a:spcPts val="1000"/>
              </a:spcBef>
              <a:spcAft>
                <a:spcPts val="1000"/>
              </a:spcAft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spcBef>
                <a:spcPts val="1000"/>
              </a:spcBef>
              <a:spcAft>
                <a:spcPts val="1000"/>
              </a:spcAft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4291393-9331-E01A-7AFA-2218E1B13AB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43810" y="774700"/>
            <a:ext cx="5409990" cy="3767138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746762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5CE4CF0-E733-16C2-6019-997F7A0F26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0319" y="0"/>
            <a:ext cx="122126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2483753"/>
            <a:ext cx="8534400" cy="2956927"/>
          </a:xfr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lIns="182880" tIns="0" rIns="182880" bIns="0"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122925577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0EC0B489-19EE-E8B4-1682-DB1608330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36" y="-4413"/>
            <a:ext cx="12190036" cy="688781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D0A0449-6B1E-4246-AE00-1D2D81565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05388" y="1248783"/>
            <a:ext cx="942529" cy="11734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2B91A8-9256-FD3F-B875-BCCEDCF2D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12240" y="584199"/>
            <a:ext cx="3058160" cy="57023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6B3C2-2B05-B0F9-528E-93F91687B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715" y="0"/>
            <a:ext cx="5638526" cy="356616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E9009975-18FD-7E9A-8F3D-76CFB43947A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6775" y="2193925"/>
            <a:ext cx="4945063" cy="3735388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6967FDC-07DE-25A0-067A-7BA6109F5FA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98767" y="3809999"/>
            <a:ext cx="5638526" cy="2758441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0931985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12BC1B-2E7B-E352-A883-90327CA00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36" y="-4413"/>
            <a:ext cx="12190036" cy="68878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42241"/>
            <a:ext cx="11231880" cy="19812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AFEAA2B-69B2-EF99-8C16-1D41933A90F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0" y="2199639"/>
            <a:ext cx="10096500" cy="4516120"/>
          </a:xfrm>
        </p:spPr>
        <p:txBody>
          <a:bodyPr>
            <a:normAutofit/>
          </a:bodyPr>
          <a:lstStyle>
            <a:lvl1pPr marL="0" indent="-228600">
              <a:spcAft>
                <a:spcPts val="600"/>
              </a:spcAft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28600" indent="-228600"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94360" indent="-228600"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960120" indent="-228600"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234440" indent="-228600"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5CE4CF0-E733-16C2-6019-997F7A0F26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0319" y="0"/>
            <a:ext cx="122126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2483753"/>
            <a:ext cx="8534400" cy="2956927"/>
          </a:xfr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lIns="91440" tIns="0" rIns="91440" bIns="1097280" anchor="b">
            <a:normAutofit/>
          </a:bodyPr>
          <a:lstStyle>
            <a:lvl1pPr algn="ctr">
              <a:lnSpc>
                <a:spcPct val="7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D652333-ECD5-B405-E21E-22F1F61C40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82140" y="4434840"/>
            <a:ext cx="8427720" cy="100572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58570425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D5501F-CDBC-80B1-364C-AB8D055C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36" y="-4413"/>
            <a:ext cx="12190036" cy="68878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7965"/>
            <a:ext cx="10515600" cy="1831974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6510-D603-481E-B685-9095150A289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208370"/>
            <a:ext cx="5181600" cy="4351338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0" indent="0">
              <a:spcBef>
                <a:spcPts val="1000"/>
              </a:spcBef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228600">
              <a:spcBef>
                <a:spcPts val="1000"/>
              </a:spcBef>
              <a:buClr>
                <a:schemeClr val="accent6">
                  <a:lumMod val="60000"/>
                  <a:lumOff val="40000"/>
                </a:schemeClr>
              </a:buCl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502920">
              <a:spcBef>
                <a:spcPts val="1000"/>
              </a:spcBef>
              <a:buClr>
                <a:schemeClr val="accent6">
                  <a:lumMod val="60000"/>
                  <a:lumOff val="40000"/>
                </a:schemeClr>
              </a:buCl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777240">
              <a:spcBef>
                <a:spcPts val="1000"/>
              </a:spcBef>
              <a:buClr>
                <a:schemeClr val="accent6">
                  <a:lumMod val="60000"/>
                  <a:lumOff val="40000"/>
                </a:schemeClr>
              </a:buCl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A4E252C-3FE5-944A-9BD8-4F44F59E8C4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172200" y="2208370"/>
            <a:ext cx="5181600" cy="4351338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0" indent="0">
              <a:spcBef>
                <a:spcPts val="1000"/>
              </a:spcBef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228600">
              <a:spcBef>
                <a:spcPts val="1000"/>
              </a:spcBef>
              <a:buClr>
                <a:schemeClr val="accent6">
                  <a:lumMod val="60000"/>
                  <a:lumOff val="40000"/>
                </a:schemeClr>
              </a:buCl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502920">
              <a:spcBef>
                <a:spcPts val="1000"/>
              </a:spcBef>
              <a:buClr>
                <a:schemeClr val="accent6">
                  <a:lumMod val="60000"/>
                  <a:lumOff val="40000"/>
                </a:schemeClr>
              </a:buCl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777240">
              <a:spcBef>
                <a:spcPts val="1000"/>
              </a:spcBef>
              <a:buClr>
                <a:schemeClr val="accent6">
                  <a:lumMod val="60000"/>
                  <a:lumOff val="40000"/>
                </a:schemeClr>
              </a:buCl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1433815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D5501F-CDBC-80B1-364C-AB8D055C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36" y="-4413"/>
            <a:ext cx="12190036" cy="68878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7965"/>
            <a:ext cx="10515600" cy="1831974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6510-D603-481E-B685-9095150A289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208370"/>
            <a:ext cx="5181600" cy="4351338"/>
          </a:xfrm>
        </p:spPr>
        <p:txBody>
          <a:bodyPr/>
          <a:lstStyle>
            <a:lvl1pPr marL="0" indent="-512064">
              <a:spcBef>
                <a:spcPts val="1000"/>
              </a:spcBef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12064" indent="-512064">
              <a:spcBef>
                <a:spcPts val="1000"/>
              </a:spcBef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786384" indent="-512064">
              <a:spcBef>
                <a:spcPts val="1000"/>
              </a:spcBef>
              <a:buClr>
                <a:schemeClr val="tx1"/>
              </a:buClr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60704" indent="-512064">
              <a:spcBef>
                <a:spcPts val="1000"/>
              </a:spcBef>
              <a:buClr>
                <a:schemeClr val="tx1"/>
              </a:buClr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35024" indent="-512064">
              <a:spcBef>
                <a:spcPts val="1000"/>
              </a:spcBef>
              <a:buClr>
                <a:schemeClr val="tx1"/>
              </a:buClr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A4E252C-3FE5-944A-9BD8-4F44F59E8C4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172200" y="2208370"/>
            <a:ext cx="5181600" cy="4351338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0" indent="0">
              <a:spcBef>
                <a:spcPts val="1000"/>
              </a:spcBef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228600">
              <a:spcBef>
                <a:spcPts val="1000"/>
              </a:spcBef>
              <a:buClr>
                <a:schemeClr val="accent6">
                  <a:lumMod val="60000"/>
                  <a:lumOff val="40000"/>
                </a:schemeClr>
              </a:buCl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502920">
              <a:spcBef>
                <a:spcPts val="1000"/>
              </a:spcBef>
              <a:buClr>
                <a:schemeClr val="accent6">
                  <a:lumMod val="60000"/>
                  <a:lumOff val="40000"/>
                </a:schemeClr>
              </a:buCl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777240">
              <a:spcBef>
                <a:spcPts val="1000"/>
              </a:spcBef>
              <a:buClr>
                <a:schemeClr val="accent6">
                  <a:lumMod val="60000"/>
                  <a:lumOff val="40000"/>
                </a:schemeClr>
              </a:buCl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3756441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2F1D334-3477-9DED-1B5B-5319B65E1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36" y="-4413"/>
            <a:ext cx="12190036" cy="688781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03B4721-05B0-245F-F9B3-56B9D69C9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64395" y="650050"/>
            <a:ext cx="2532377" cy="59046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E86491-7766-3453-4B91-A66EBAAF2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82562" y="4015292"/>
            <a:ext cx="942529" cy="11734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6B3C2-2B05-B0F9-528E-93F91687B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58" y="213360"/>
            <a:ext cx="4861835" cy="2588569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6967FDC-07DE-25A0-067A-7BA6109F5FA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22959" y="2864378"/>
            <a:ext cx="4877075" cy="3690311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7A52259-05D1-DEBD-7FA4-77ECA1F9D1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69075" y="909638"/>
            <a:ext cx="4673600" cy="325120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405567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A83E93-E0C9-34F7-94CC-8E4582B14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36" y="-4413"/>
            <a:ext cx="12190036" cy="688781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2DD9844-A207-D09C-E52B-81F0E94C92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242" y="227965"/>
            <a:ext cx="11228358" cy="1831974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76F5EE1-BF9B-FF96-D357-B364CCAFEBA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1242" y="2236439"/>
            <a:ext cx="2935287" cy="396751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spcBef>
                <a:spcPts val="1000"/>
              </a:spcBef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spcBef>
                <a:spcPts val="1000"/>
              </a:spcBef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spcBef>
                <a:spcPts val="1000"/>
              </a:spcBef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B36D66AB-D14F-F621-3EF5-1EC4935326C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160838" y="2236788"/>
            <a:ext cx="7192962" cy="396716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058923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D5501F-CDBC-80B1-364C-AB8D055C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36" y="-4413"/>
            <a:ext cx="12190036" cy="68878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7965"/>
            <a:ext cx="10515600" cy="1831974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6510-D603-481E-B685-9095150A289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88050"/>
            <a:ext cx="6240780" cy="4351338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0" indent="0">
              <a:spcBef>
                <a:spcPts val="1000"/>
              </a:spcBef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685800">
              <a:spcBef>
                <a:spcPts val="500"/>
              </a:spcBef>
              <a:buClr>
                <a:schemeClr val="accent6">
                  <a:lumMod val="60000"/>
                  <a:lumOff val="40000"/>
                </a:schemeClr>
              </a:buCl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868680">
              <a:spcBef>
                <a:spcPts val="1000"/>
              </a:spcBef>
              <a:buClr>
                <a:schemeClr val="accent6">
                  <a:lumMod val="60000"/>
                  <a:lumOff val="40000"/>
                </a:schemeClr>
              </a:buCl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234440">
              <a:spcBef>
                <a:spcPts val="500"/>
              </a:spcBef>
              <a:buClr>
                <a:schemeClr val="accent6">
                  <a:lumMod val="60000"/>
                  <a:lumOff val="40000"/>
                </a:schemeClr>
              </a:buCl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A4E252C-3FE5-944A-9BD8-4F44F59E8C4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7904480" y="2188050"/>
            <a:ext cx="3449320" cy="435133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85750" indent="-285750">
              <a:spcBef>
                <a:spcPts val="1000"/>
              </a:spcBef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94360">
              <a:spcBef>
                <a:spcPts val="1000"/>
              </a:spcBef>
              <a:buClr>
                <a:schemeClr val="accent6">
                  <a:lumMod val="60000"/>
                  <a:lumOff val="40000"/>
                </a:schemeClr>
              </a:buClr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960120">
              <a:spcBef>
                <a:spcPts val="1000"/>
              </a:spcBef>
              <a:buClr>
                <a:schemeClr val="accent6">
                  <a:lumMod val="60000"/>
                  <a:lumOff val="40000"/>
                </a:schemeClr>
              </a:buClr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143000">
              <a:spcBef>
                <a:spcPts val="1000"/>
              </a:spcBef>
              <a:buClr>
                <a:schemeClr val="accent6">
                  <a:lumMod val="60000"/>
                  <a:lumOff val="40000"/>
                </a:schemeClr>
              </a:buClr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3537295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D5501F-CDBC-80B1-364C-AB8D055C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36" y="-4413"/>
            <a:ext cx="12190036" cy="68878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7965"/>
            <a:ext cx="10515600" cy="1831974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3152725A-8F4E-1DCB-9875-1438D9656C59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2236788"/>
            <a:ext cx="10515600" cy="39671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033203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5CE4CF0-E733-16C2-6019-997F7A0F26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0319" y="0"/>
            <a:ext cx="9080957" cy="68580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7680" y="2351672"/>
            <a:ext cx="7746912" cy="3108960"/>
          </a:xfr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lIns="91440" tIns="0" rIns="457200" bIns="1371600" anchor="b">
            <a:normAutofit/>
          </a:bodyPr>
          <a:lstStyle>
            <a:lvl1pPr algn="r">
              <a:lnSpc>
                <a:spcPct val="7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D652333-ECD5-B405-E21E-22F1F61C40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50540" y="4175760"/>
            <a:ext cx="7693572" cy="1264809"/>
          </a:xfrm>
        </p:spPr>
        <p:txBody>
          <a:bodyPr rIns="457200">
            <a:normAutofit/>
          </a:bodyPr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59949007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956699254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5497679"/>
      </p:ext>
    </p:extLst>
  </p:cSld>
  <p:clrMapOvr>
    <a:masterClrMapping/>
  </p:clrMapOvr>
  <p:transition spd="slow">
    <p:push dir="u"/>
  </p:transition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50" r:id="rId5"/>
    <p:sldLayoutId id="2147483676" r:id="rId6"/>
    <p:sldLayoutId id="2147483677" r:id="rId7"/>
    <p:sldLayoutId id="2147483678" r:id="rId8"/>
    <p:sldLayoutId id="2147483679" r:id="rId9"/>
    <p:sldLayoutId id="2147483667" r:id="rId10"/>
    <p:sldLayoutId id="2147483680" r:id="rId11"/>
    <p:sldLayoutId id="2147483681" r:id="rId12"/>
    <p:sldLayoutId id="2147483682" r:id="rId13"/>
    <p:sldLayoutId id="2147483654" r:id="rId14"/>
    <p:sldLayoutId id="2147483655" r:id="rId15"/>
  </p:sldLayoutIdLst>
  <p:transition spd="slow">
    <p:push dir="u"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4" descr="A building with a square shaped structure">
            <a:extLst>
              <a:ext uri="{FF2B5EF4-FFF2-40B4-BE49-F238E27FC236}">
                <a16:creationId xmlns:a16="http://schemas.microsoft.com/office/drawing/2014/main" id="{9F69926C-8D6D-01C8-37BD-734624EFE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8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504"/>
            <a:ext cx="12192000" cy="6846496"/>
          </a:xfrm>
          <a:prstGeom prst="rect">
            <a:avLst/>
          </a:prstGeom>
          <a:effectLst>
            <a:glow rad="508000">
              <a:schemeClr val="accent6">
                <a:satMod val="175000"/>
                <a:alpha val="43000"/>
              </a:schemeClr>
            </a:glow>
            <a:outerShdw blurRad="1270000" dist="50800" dir="5400000" algn="ctr" rotWithShape="0">
              <a:srgbClr val="000000">
                <a:alpha val="0"/>
              </a:srgbClr>
            </a:outerShdw>
            <a:reflection stA="20000" endPos="65000" dist="50800" dir="5400000" sy="-100000" algn="bl" rotWithShape="0"/>
          </a:effec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F0F61AE6-6C84-6242-11F7-DD2042EB4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368" y="2047844"/>
            <a:ext cx="7745264" cy="2624659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dirty="0"/>
              <a:t>REAL ESTATE WEBSITE</a:t>
            </a:r>
          </a:p>
        </p:txBody>
      </p:sp>
    </p:spTree>
    <p:extLst>
      <p:ext uri="{BB962C8B-B14F-4D97-AF65-F5344CB8AC3E}">
        <p14:creationId xmlns:p14="http://schemas.microsoft.com/office/powerpoint/2010/main" val="85888516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47CFB8-09CB-AEDA-9E73-5C54DBCD6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658" y="1185290"/>
            <a:ext cx="5283773" cy="1341600"/>
          </a:xfrm>
        </p:spPr>
        <p:txBody>
          <a:bodyPr/>
          <a:lstStyle/>
          <a:p>
            <a:r>
              <a:rPr lang="en-US" dirty="0"/>
              <a:t>MEMBERS</a:t>
            </a:r>
            <a:r>
              <a:rPr lang="en-US" u="sng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3B19D-B990-5DFD-8772-BFACCBDAAC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408903"/>
            <a:ext cx="4926538" cy="180768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AVNISH SRIVASTAVA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HARI PRAKASH SHARMA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UTKARSH EKKA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B0B5364-CCF9-6CF3-BC8F-37FEC5F6E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445" y="1304925"/>
            <a:ext cx="6133946" cy="344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32851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1322D6-B603-EF90-60B3-C9225BD33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144" y="1003012"/>
            <a:ext cx="5638526" cy="678426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B1351-4D9B-7875-0EFF-F976319F968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681293" y="1819212"/>
            <a:ext cx="5304229" cy="4139136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70000"/>
              </a:lnSpc>
            </a:pPr>
            <a:r>
              <a:rPr lang="en-US" sz="1600" dirty="0"/>
              <a:t>The project is real estate listing website which is made over </a:t>
            </a:r>
            <a:r>
              <a:rPr lang="en-US" sz="1600" b="1" dirty="0">
                <a:solidFill>
                  <a:schemeClr val="tx1"/>
                </a:solidFill>
              </a:rPr>
              <a:t>Next.js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/>
              <a:t>and its backend is supported on </a:t>
            </a:r>
            <a:r>
              <a:rPr lang="en-US" sz="1600" b="1" dirty="0">
                <a:solidFill>
                  <a:schemeClr val="tx1"/>
                </a:solidFill>
              </a:rPr>
              <a:t>Node.js </a:t>
            </a:r>
            <a:r>
              <a:rPr lang="en-US" sz="1600" dirty="0"/>
              <a:t>and </a:t>
            </a:r>
            <a:r>
              <a:rPr lang="en-US" sz="1600" b="1" dirty="0">
                <a:solidFill>
                  <a:schemeClr val="tx1"/>
                </a:solidFill>
              </a:rPr>
              <a:t>Express.js </a:t>
            </a:r>
            <a:r>
              <a:rPr lang="en-US" sz="1600" dirty="0"/>
              <a:t>with </a:t>
            </a:r>
            <a:r>
              <a:rPr lang="en-US" sz="1600" b="1" dirty="0"/>
              <a:t>MongoDB</a:t>
            </a:r>
            <a:r>
              <a:rPr lang="en-US" sz="1600" dirty="0"/>
              <a:t> as database.</a:t>
            </a:r>
          </a:p>
          <a:p>
            <a:pPr algn="l">
              <a:lnSpc>
                <a:spcPct val="170000"/>
              </a:lnSpc>
            </a:pPr>
            <a:r>
              <a:rPr lang="en-US" sz="1500" b="1" dirty="0"/>
              <a:t> </a:t>
            </a:r>
            <a:r>
              <a:rPr lang="en-US" sz="1500" b="1" u="sng" dirty="0">
                <a:latin typeface="+mj-lt"/>
              </a:rPr>
              <a:t>The Project has: </a:t>
            </a:r>
          </a:p>
          <a:p>
            <a:pPr marL="324000" indent="-252000" algn="l">
              <a:lnSpc>
                <a:spcPct val="120000"/>
              </a:lnSpc>
              <a:spcBef>
                <a:spcPts val="600"/>
              </a:spcBef>
              <a:buAutoNum type="arabicPeriod"/>
            </a:pPr>
            <a:r>
              <a:rPr lang="en-US" sz="1600" dirty="0"/>
              <a:t>Buy property page</a:t>
            </a:r>
          </a:p>
          <a:p>
            <a:pPr marL="324000" indent="-252000" algn="l">
              <a:lnSpc>
                <a:spcPct val="120000"/>
              </a:lnSpc>
              <a:spcBef>
                <a:spcPts val="600"/>
              </a:spcBef>
              <a:buAutoNum type="arabicPeriod"/>
            </a:pPr>
            <a:r>
              <a:rPr lang="en-US" sz="1600" dirty="0"/>
              <a:t>rental property page</a:t>
            </a:r>
          </a:p>
          <a:p>
            <a:pPr marL="324000" indent="-252000" algn="l">
              <a:lnSpc>
                <a:spcPct val="120000"/>
              </a:lnSpc>
              <a:spcBef>
                <a:spcPts val="600"/>
              </a:spcBef>
              <a:buAutoNum type="arabicPeriod"/>
            </a:pPr>
            <a:r>
              <a:rPr lang="en-US" sz="1600" dirty="0"/>
              <a:t>empty plots page</a:t>
            </a:r>
          </a:p>
          <a:p>
            <a:pPr algn="l">
              <a:lnSpc>
                <a:spcPct val="120000"/>
              </a:lnSpc>
            </a:pPr>
            <a:r>
              <a:rPr lang="en-US" sz="1600" dirty="0"/>
              <a:t>All three having a dedicated page for showing dynamic details for a particular property using </a:t>
            </a:r>
            <a:r>
              <a:rPr lang="en-US" sz="1600" b="1" dirty="0">
                <a:solidFill>
                  <a:schemeClr val="tx1"/>
                </a:solidFill>
              </a:rPr>
              <a:t>express.js </a:t>
            </a:r>
            <a:r>
              <a:rPr lang="en-US" sz="1600" dirty="0"/>
              <a:t>RESTful API and </a:t>
            </a:r>
            <a:r>
              <a:rPr lang="en-US" sz="1600" b="1" dirty="0"/>
              <a:t>Leaflet map </a:t>
            </a:r>
            <a:r>
              <a:rPr lang="en-US" sz="1600" dirty="0"/>
              <a:t>integration </a:t>
            </a:r>
          </a:p>
          <a:p>
            <a:pPr algn="l">
              <a:lnSpc>
                <a:spcPct val="170000"/>
              </a:lnSpc>
            </a:pPr>
            <a:r>
              <a:rPr lang="en-US" sz="1600" dirty="0"/>
              <a:t>The authentication system is made using </a:t>
            </a:r>
            <a:r>
              <a:rPr lang="en-US" sz="1600" b="1" dirty="0"/>
              <a:t>JWT</a:t>
            </a:r>
            <a:r>
              <a:rPr lang="en-US" sz="1600" dirty="0"/>
              <a:t> and </a:t>
            </a:r>
            <a:r>
              <a:rPr lang="en-US" sz="1600" b="1" dirty="0"/>
              <a:t>OAuth</a:t>
            </a:r>
            <a:r>
              <a:rPr lang="en-US" sz="1600" dirty="0"/>
              <a:t> authentication which enhances security.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31D180-5C91-40AA-B5D1-0CE1F4AA8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84" y="2192838"/>
            <a:ext cx="5304230" cy="288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6589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AAD429-527E-5E97-09BC-82127E513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0476" y="2684208"/>
            <a:ext cx="2762225" cy="40911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12" y="403389"/>
            <a:ext cx="4844845" cy="1165449"/>
          </a:xfrm>
          <a:noFill/>
        </p:spPr>
        <p:txBody>
          <a:bodyPr>
            <a:normAutofit/>
          </a:bodyPr>
          <a:lstStyle/>
          <a:p>
            <a:pPr algn="ctr"/>
            <a:r>
              <a:rPr lang="en-US" dirty="0"/>
              <a:t>FUNCTIONALITY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4574" y="1769805"/>
            <a:ext cx="9397181" cy="4516120"/>
          </a:xfrm>
          <a:noFill/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0" dirty="0">
                <a:latin typeface="Aptos" panose="020B0004020202020204" pitchFamily="34" charset="0"/>
              </a:rPr>
              <a:t>The frontend part of website is made over </a:t>
            </a:r>
            <a:r>
              <a:rPr lang="en-US" dirty="0">
                <a:latin typeface="Aptos" panose="020B0004020202020204" pitchFamily="34" charset="0"/>
              </a:rPr>
              <a:t>Next.js </a:t>
            </a:r>
            <a:r>
              <a:rPr lang="en-US" b="0" dirty="0">
                <a:latin typeface="Aptos" panose="020B0004020202020204" pitchFamily="34" charset="0"/>
              </a:rPr>
              <a:t>which provides an efficient way of routing between pages also Next.js has built-in </a:t>
            </a:r>
            <a:r>
              <a:rPr lang="en-US" dirty="0">
                <a:latin typeface="Aptos" panose="020B0004020202020204" pitchFamily="34" charset="0"/>
              </a:rPr>
              <a:t>leaflet map </a:t>
            </a:r>
            <a:r>
              <a:rPr lang="en-US" b="0" dirty="0">
                <a:latin typeface="Aptos" panose="020B0004020202020204" pitchFamily="34" charset="0"/>
              </a:rPr>
              <a:t>which helps us to incorporate maps without use of any external API.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0" dirty="0">
                <a:latin typeface="Aptos" panose="020B0004020202020204" pitchFamily="34" charset="0"/>
              </a:rPr>
              <a:t>The website has Buy property page, rental property page, empty plots page, with responsiveness and smooth UI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0" dirty="0">
                <a:latin typeface="Aptos" panose="020B0004020202020204" pitchFamily="34" charset="0"/>
              </a:rPr>
              <a:t>Backend is made over </a:t>
            </a:r>
            <a:r>
              <a:rPr lang="en-US" dirty="0">
                <a:latin typeface="Aptos" panose="020B0004020202020204" pitchFamily="34" charset="0"/>
              </a:rPr>
              <a:t>Node.js </a:t>
            </a:r>
            <a:r>
              <a:rPr lang="en-US" b="0" dirty="0">
                <a:latin typeface="Aptos" panose="020B0004020202020204" pitchFamily="34" charset="0"/>
              </a:rPr>
              <a:t>and </a:t>
            </a:r>
            <a:r>
              <a:rPr lang="en-US" dirty="0">
                <a:latin typeface="Aptos" panose="020B0004020202020204" pitchFamily="34" charset="0"/>
              </a:rPr>
              <a:t>Express.js</a:t>
            </a:r>
            <a:r>
              <a:rPr lang="en-US" b="0" dirty="0">
                <a:latin typeface="Aptos" panose="020B0004020202020204" pitchFamily="34" charset="0"/>
              </a:rPr>
              <a:t> as it provides us with </a:t>
            </a:r>
            <a:r>
              <a:rPr lang="en-US" b="0" dirty="0" err="1">
                <a:latin typeface="Aptos" panose="020B0004020202020204" pitchFamily="34" charset="0"/>
              </a:rPr>
              <a:t>middlewares</a:t>
            </a:r>
            <a:r>
              <a:rPr lang="en-US" b="0" dirty="0">
                <a:latin typeface="Aptos" panose="020B0004020202020204" pitchFamily="34" charset="0"/>
              </a:rPr>
              <a:t> and easy routing, also Express.js helps in smooth communication between frontend and database.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0" dirty="0">
                <a:latin typeface="Aptos" panose="020B0004020202020204" pitchFamily="34" charset="0"/>
              </a:rPr>
              <a:t>Database is built over MongoDB and Mongoose which is easily linked with backend and mongoose helps to define schemas to provide fixed structure of data being stored in database.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C3D6C81-3DC3-5A39-289E-83F2AE943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017" y="393289"/>
            <a:ext cx="5055663" cy="289297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09FE033-C230-7B42-3D4C-1C45C5081F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12" y="3620900"/>
            <a:ext cx="5417153" cy="270735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41599D6-7CEB-F032-2727-8BF861484D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31" y="393290"/>
            <a:ext cx="5417153" cy="289297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568E87-160C-A122-0D81-7EB8EB5196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023" y="3535472"/>
            <a:ext cx="5293488" cy="289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70461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DEC2796-5F47-F20C-0779-C93D234DE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09" y="309793"/>
            <a:ext cx="11812381" cy="623841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5506156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F7D57D0-B824-4B4F-A812-70B3FA4C5B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438" y="1168822"/>
            <a:ext cx="7611476" cy="429077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4287E98-1831-B7D3-4763-89470B19EB81}"/>
              </a:ext>
            </a:extLst>
          </p:cNvPr>
          <p:cNvSpPr txBox="1"/>
          <p:nvPr/>
        </p:nvSpPr>
        <p:spPr>
          <a:xfrm>
            <a:off x="2284117" y="2322447"/>
            <a:ext cx="7823445" cy="22131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200" b="1" dirty="0"/>
              <a:t>Frontend </a:t>
            </a:r>
            <a:r>
              <a:rPr lang="en-IN" sz="2800" dirty="0"/>
              <a:t>- Next.js, </a:t>
            </a:r>
            <a:r>
              <a:rPr lang="en-IN" sz="2800" dirty="0" err="1"/>
              <a:t>BetterAuth</a:t>
            </a:r>
            <a:r>
              <a:rPr lang="en-IN" sz="2800" dirty="0"/>
              <a:t>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200" b="1" dirty="0"/>
              <a:t>Backend </a:t>
            </a:r>
            <a:r>
              <a:rPr lang="en-IN" sz="2800" dirty="0"/>
              <a:t>- Node.js, Express.js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200" b="1" dirty="0"/>
              <a:t>Database - </a:t>
            </a:r>
            <a:r>
              <a:rPr lang="en-IN" sz="2800" dirty="0"/>
              <a:t>MongoDB and Mongoose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F7F365-049C-49E5-B40C-2F088A0EEA13}"/>
              </a:ext>
            </a:extLst>
          </p:cNvPr>
          <p:cNvSpPr txBox="1"/>
          <p:nvPr/>
        </p:nvSpPr>
        <p:spPr>
          <a:xfrm>
            <a:off x="0" y="399381"/>
            <a:ext cx="1219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/>
              <a:t>TECHNOLOGY </a:t>
            </a:r>
          </a:p>
        </p:txBody>
      </p:sp>
    </p:spTree>
    <p:extLst>
      <p:ext uri="{BB962C8B-B14F-4D97-AF65-F5344CB8AC3E}">
        <p14:creationId xmlns:p14="http://schemas.microsoft.com/office/powerpoint/2010/main" val="131083497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spiral staircase with a window">
            <a:extLst>
              <a:ext uri="{FF2B5EF4-FFF2-40B4-BE49-F238E27FC236}">
                <a16:creationId xmlns:a16="http://schemas.microsoft.com/office/drawing/2014/main" id="{B5DDD3D2-6883-E29E-5308-E266EB8B0B3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0319" y="0"/>
            <a:ext cx="9080957" cy="6858000"/>
          </a:xfr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64FE2622-2131-0323-CDAD-4F607D9BC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680" y="2351672"/>
            <a:ext cx="7746912" cy="3108960"/>
          </a:xfrm>
          <a:solidFill>
            <a:schemeClr val="tx1">
              <a:alpha val="19766"/>
            </a:schemeClr>
          </a:solidFill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7177750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">
  <a:themeElements>
    <a:clrScheme name="TM89987290">
      <a:dk1>
        <a:srgbClr val="000000"/>
      </a:dk1>
      <a:lt1>
        <a:srgbClr val="FFFFFF"/>
      </a:lt1>
      <a:dk2>
        <a:srgbClr val="766E54"/>
      </a:dk2>
      <a:lt2>
        <a:srgbClr val="E2EACE"/>
      </a:lt2>
      <a:accent1>
        <a:srgbClr val="A42F0F"/>
      </a:accent1>
      <a:accent2>
        <a:srgbClr val="DD7E17"/>
      </a:accent2>
      <a:accent3>
        <a:srgbClr val="9F8251"/>
      </a:accent3>
      <a:accent4>
        <a:srgbClr val="728553"/>
      </a:accent4>
      <a:accent5>
        <a:srgbClr val="92A94C"/>
      </a:accent5>
      <a:accent6>
        <a:srgbClr val="69AB91"/>
      </a:accent6>
      <a:hlink>
        <a:srgbClr val="0563C1"/>
      </a:hlink>
      <a:folHlink>
        <a:srgbClr val="954F72"/>
      </a:folHlink>
    </a:clrScheme>
    <a:fontScheme name="Custom 118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89987290_wac_CP_V8" id="{1F0DB70F-45C7-4B5D-8795-148F36539D7A}" vid="{00075B70-57E4-4F0F-8DAD-FC1274CAED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E0F3720-02F9-4261-94D4-5557D86B9E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B955FB-F99B-4F4D-AA3F-F56CF97440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E2A051E-57AB-4766-9144-EDED102500DA}">
  <ds:schemaRefs>
    <ds:schemaRef ds:uri="71af3243-3dd4-4a8d-8c0d-dd76da1f02a5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purl.org/dc/dcmitype/"/>
    <ds:schemaRef ds:uri="http://purl.org/dc/terms/"/>
    <ds:schemaRef ds:uri="230e9df3-be65-4c73-a93b-d1236ebd677e"/>
    <ds:schemaRef ds:uri="16c05727-aa75-4e4a-9b5f-8a80a1165891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Wisp design</Template>
  <TotalTime>155</TotalTime>
  <Words>246</Words>
  <Application>Microsoft Office PowerPoint</Application>
  <PresentationFormat>Widescreen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Century Gothic</vt:lpstr>
      <vt:lpstr>Wingdings</vt:lpstr>
      <vt:lpstr>Custom</vt:lpstr>
      <vt:lpstr>REAL ESTATE WEBSITE</vt:lpstr>
      <vt:lpstr>MEMBERS </vt:lpstr>
      <vt:lpstr>INTRODUCTION</vt:lpstr>
      <vt:lpstr>FUNCTIONALITY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Prakash Sharma</dc:creator>
  <cp:lastModifiedBy>Sam L</cp:lastModifiedBy>
  <cp:revision>8</cp:revision>
  <dcterms:created xsi:type="dcterms:W3CDTF">2025-07-31T14:51:37Z</dcterms:created>
  <dcterms:modified xsi:type="dcterms:W3CDTF">2025-11-30T08:38:32Z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